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embeddedFontLst>
    <p:embeddedFont>
      <p:font typeface="Inter" panose="020F0502020204030204"/>
      <p:regular r:id="rId30"/>
      <p:bold r:id="rId31"/>
    </p:embeddedFont>
    <p:embeddedFont>
      <p:font typeface="Sora"/>
      <p:regular r:id="rId32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Hotels</c:v>
                </c:pt>
              </c:strCache>
            </c:strRef>
          </c:tx>
          <c:spPr>
            <a:solidFill>
              <a:srgbClr val="FF7315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D2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Asia-Pacific</c:v>
                </c:pt>
                <c:pt idx="1">
                  <c:v>Middle East &amp; Africa</c:v>
                </c:pt>
                <c:pt idx="2">
                  <c:v>Americas</c:v>
                </c:pt>
                <c:pt idx="3">
                  <c:v>Europe &amp; UK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558000</c:v>
                </c:pt>
                <c:pt idx="1">
                  <c:v>384000</c:v>
                </c:pt>
                <c:pt idx="2">
                  <c:v>116000</c:v>
                </c:pt>
                <c:pt idx="3">
                  <c:v>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3-664C-BA43-3D21E174B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5C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75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Sora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Sora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Sora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Sor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Sora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So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So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So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Sor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cg/assets/fcg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66928"/>
            <a:ext cx="1783080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8608" y="566928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4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21488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INTRODUCTION   /  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2542032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Next-Generation Global</a:t>
            </a:r>
            <a:endParaRPr lang="en-US" sz="4400" spc="-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4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Travel &amp; Payment Network</a:t>
            </a:r>
            <a:endParaRPr lang="en-US" sz="4400" spc="-90" dirty="0"/>
          </a:p>
        </p:txBody>
      </p:sp>
      <p:sp>
        <p:nvSpPr>
          <p:cNvPr id="6" name="Text 3"/>
          <p:cNvSpPr/>
          <p:nvPr/>
        </p:nvSpPr>
        <p:spPr>
          <a:xfrm>
            <a:off x="566928" y="4160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   —   started in China, now global, with China still our core strength.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4892040"/>
            <a:ext cx="257243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038344"/>
            <a:ext cx="2115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13+</a:t>
            </a:r>
            <a:endParaRPr lang="en-US" sz="2700" spc="-90" dirty="0"/>
          </a:p>
        </p:txBody>
      </p:sp>
      <p:sp>
        <p:nvSpPr>
          <p:cNvPr id="9" name="Text 6"/>
          <p:cNvSpPr/>
          <p:nvPr/>
        </p:nvSpPr>
        <p:spPr>
          <a:xfrm>
            <a:off x="832104" y="5550408"/>
            <a:ext cx="220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IN CORPORATE TRAVEL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95396" y="4892040"/>
            <a:ext cx="257243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1428" y="5038344"/>
            <a:ext cx="2115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USD 3B+</a:t>
            </a:r>
            <a:endParaRPr lang="en-US" sz="2700" spc="-90" dirty="0"/>
          </a:p>
        </p:txBody>
      </p:sp>
      <p:sp>
        <p:nvSpPr>
          <p:cNvPr id="12" name="Text 9"/>
          <p:cNvSpPr/>
          <p:nvPr/>
        </p:nvSpPr>
        <p:spPr>
          <a:xfrm>
            <a:off x="3660572" y="5550408"/>
            <a:ext cx="220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PLATFORM GMV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23864" y="4892040"/>
            <a:ext cx="257243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79896" y="5038344"/>
            <a:ext cx="2115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4.35M+</a:t>
            </a:r>
            <a:endParaRPr lang="en-US" sz="2700" spc="-90" dirty="0"/>
          </a:p>
        </p:txBody>
      </p:sp>
      <p:sp>
        <p:nvSpPr>
          <p:cNvPr id="15" name="Text 12"/>
          <p:cNvSpPr/>
          <p:nvPr/>
        </p:nvSpPr>
        <p:spPr>
          <a:xfrm>
            <a:off x="6489040" y="5550408"/>
            <a:ext cx="220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HOTEL RECORDS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052331" y="4892040"/>
            <a:ext cx="257243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308363" y="5038344"/>
            <a:ext cx="2115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220+</a:t>
            </a:r>
            <a:endParaRPr lang="en-US" sz="2700" spc="-90" dirty="0"/>
          </a:p>
        </p:txBody>
      </p:sp>
      <p:sp>
        <p:nvSpPr>
          <p:cNvPr id="18" name="Text 15"/>
          <p:cNvSpPr/>
          <p:nvPr/>
        </p:nvSpPr>
        <p:spPr>
          <a:xfrm>
            <a:off x="9317507" y="5550408"/>
            <a:ext cx="220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COVERED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fusionconnectgroup.com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 OF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2148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0" spc="-90" dirty="0"/>
          </a:p>
        </p:txBody>
      </p:sp>
      <p:sp>
        <p:nvSpPr>
          <p:cNvPr id="4" name="Shape 2"/>
          <p:cNvSpPr/>
          <p:nvPr/>
        </p:nvSpPr>
        <p:spPr>
          <a:xfrm>
            <a:off x="3337560" y="2651760"/>
            <a:ext cx="0" cy="1417320"/>
          </a:xfrm>
          <a:prstGeom prst="line">
            <a:avLst/>
          </a:prstGeom>
          <a:noFill/>
          <a:ln w="190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About Us</a:t>
            </a:r>
            <a:endParaRPr lang="en-US" sz="5000" spc="-90" dirty="0"/>
          </a:p>
        </p:txBody>
      </p:sp>
      <p:sp>
        <p:nvSpPr>
          <p:cNvPr id="6" name="Text 4"/>
          <p:cNvSpPr/>
          <p:nvPr/>
        </p:nvSpPr>
        <p:spPr>
          <a:xfrm>
            <a:off x="3685032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are, our decade-long track record, the clients we serve, and where we operate.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</a:t>
            </a:r>
            <a:r>
              <a:rPr lang="en-US" sz="1000" b="1" kern="0" spc="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6236208"/>
            <a:ext cx="1040587" cy="0"/>
          </a:xfrm>
          <a:prstGeom prst="line">
            <a:avLst/>
          </a:prstGeom>
          <a:noFill/>
          <a:ln w="2540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9035" y="5925312"/>
            <a:ext cx="127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0617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92724" y="5925312"/>
            <a:ext cx="1813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 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/   OUR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are rebuilding the rails of</a:t>
            </a:r>
            <a:endParaRPr lang="en-US" sz="4000" spc="-9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4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global business travel.</a:t>
            </a:r>
            <a:endParaRPr lang="en-US" sz="40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6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travel still runs on </a:t>
            </a:r>
            <a:r>
              <a:rPr lang="en-US" sz="16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GDS infrastructure</a:t>
            </a:r>
            <a:r>
              <a:rPr lang="en-US" sz="16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designed decades ago — intermediated, costly, and rigid. FCG is the modern alternative: a direct, AI-powered booking and payment network that connects buyers and suppliers worldwide.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464058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Direct &amp; Decentralized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5006340"/>
            <a:ext cx="3000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connect straight to suppliers — no middleman, no fees — across a network with no central point of failure.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4314" y="416052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618634" y="464058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AI-Native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8634" y="5006340"/>
            <a:ext cx="3000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across the full chain — sourcing, booking, servicing, settlement.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1701" y="4160520"/>
            <a:ext cx="350306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396021" y="464058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Borderless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96021" y="5006340"/>
            <a:ext cx="3000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 by design: China outbound and global inbound, on one network.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/   ABOUT FCG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Fusion Connect Group</a:t>
            </a:r>
            <a:endParaRPr lang="en-US" sz="32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2013 in Shenzhen. A next-generation business-travel technology infrastructure group — grown from China into a global network, with our China presence being our deepest strength.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608076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73936" y="212140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 supply-chain business established in Shenzhen — direct contracting &amp; RFP platform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73936" y="2578608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289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73936" y="262890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 Cloud SaaS platform launched — hotel supply infrastructure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73936" y="3086100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73936" y="313639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Ctrip &amp; Meituan — annual GMV surpasses USD 150M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73936" y="3593592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6438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73936" y="364388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integration with the Top 60 domestic &amp; global hotel groups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73936" y="4101084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1513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73936" y="415137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AMT corporate-travel brand — unified booking &amp; supply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73936" y="4608576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6588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73936" y="465886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Resilient through COVID — revenue 300% above pre-COVID 2019 levels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73936" y="5116068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73936" y="516636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supply established — F-Link with GDS, NDC &amp; LCC connectivity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73936" y="5623560"/>
            <a:ext cx="4389120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56738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73936" y="567385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 global brands — distributed worldwide supply network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0296" y="1975104"/>
            <a:ext cx="4684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0296" y="2322576"/>
            <a:ext cx="4684471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178040" y="2450592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Global Distribution Network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78040" y="2761488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 hotel &amp; flight supply across 220+ countries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940296" y="3278124"/>
            <a:ext cx="4684471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178040" y="3406140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Cross-Border Payments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178040" y="3717036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payment &amp; settlement into and out of China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940296" y="4233672"/>
            <a:ext cx="4684471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7178040" y="4361688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Platforms &amp; Tooling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7178040" y="4672584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CBT, AI Booking Tool, Atlas TMC OS &amp; open API connectivity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940296" y="5189220"/>
            <a:ext cx="4684471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7178040" y="5317236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Enterprise Delivery</a:t>
            </a:r>
            <a:endParaRPr lang="en-US" sz="1400" dirty="0"/>
          </a:p>
        </p:txBody>
      </p:sp>
      <p:sp>
        <p:nvSpPr>
          <p:cNvPr id="49" name="Text 43"/>
          <p:cNvSpPr/>
          <p:nvPr/>
        </p:nvSpPr>
        <p:spPr>
          <a:xfrm>
            <a:off x="7178040" y="5628132"/>
            <a:ext cx="420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Top-tier corporate travel programs, end to end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/  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Proven at enterprise scale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a decade compounding the deepest negotiated-hotel supply, the most demanding clients, and the strongest compliance record in the China market.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2542032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USD 3B+</a:t>
            </a:r>
            <a:endParaRPr lang="en-US" sz="3300" spc="-90" dirty="0"/>
          </a:p>
        </p:txBody>
      </p:sp>
      <p:sp>
        <p:nvSpPr>
          <p:cNvPr id="7" name="Text 5"/>
          <p:cNvSpPr/>
          <p:nvPr/>
        </p:nvSpPr>
        <p:spPr>
          <a:xfrm>
            <a:off x="886968" y="3182112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PLATFORM GMV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347472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Transacted across the platform to date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8218" y="2286000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9114" y="2542032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13+ YRS</a:t>
            </a:r>
            <a:endParaRPr lang="en-US" sz="3300" spc="-90" dirty="0"/>
          </a:p>
        </p:txBody>
      </p:sp>
      <p:sp>
        <p:nvSpPr>
          <p:cNvPr id="11" name="Text 9"/>
          <p:cNvSpPr/>
          <p:nvPr/>
        </p:nvSpPr>
        <p:spPr>
          <a:xfrm>
            <a:off x="4658258" y="3182112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TRACK RECORD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58258" y="347472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Profitable through-cycle delivery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9509" y="2286000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20405" y="2542032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#1</a:t>
            </a:r>
            <a:endParaRPr lang="en-US" sz="3300" spc="-90" dirty="0"/>
          </a:p>
        </p:txBody>
      </p:sp>
      <p:sp>
        <p:nvSpPr>
          <p:cNvPr id="15" name="Text 13"/>
          <p:cNvSpPr/>
          <p:nvPr/>
        </p:nvSpPr>
        <p:spPr>
          <a:xfrm>
            <a:off x="8429549" y="3182112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NEGOTIATED-HOTEL SCALE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29549" y="3474720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&amp; deepest provider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288536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454456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4.35M+</a:t>
            </a:r>
            <a:endParaRPr lang="en-US" sz="3300" spc="-90" dirty="0"/>
          </a:p>
        </p:txBody>
      </p:sp>
      <p:sp>
        <p:nvSpPr>
          <p:cNvPr id="19" name="Text 17"/>
          <p:cNvSpPr/>
          <p:nvPr/>
        </p:nvSpPr>
        <p:spPr>
          <a:xfrm>
            <a:off x="886968" y="5184648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HOTEL RECORDS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6968" y="5477256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1.35M+ in China · 135K+ direct contract independents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38218" y="4288536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49114" y="454456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220+</a:t>
            </a:r>
            <a:endParaRPr lang="en-US" sz="3300" spc="-90" dirty="0"/>
          </a:p>
        </p:txBody>
      </p:sp>
      <p:sp>
        <p:nvSpPr>
          <p:cNvPr id="23" name="Text 21"/>
          <p:cNvSpPr/>
          <p:nvPr/>
        </p:nvSpPr>
        <p:spPr>
          <a:xfrm>
            <a:off x="4658258" y="5184648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COVERED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58258" y="5477256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 · NDC · LCC flight content worldwide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9509" y="4288536"/>
            <a:ext cx="351525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20405" y="454456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50+</a:t>
            </a:r>
            <a:endParaRPr lang="en-US" sz="3300" spc="-90" dirty="0"/>
          </a:p>
        </p:txBody>
      </p:sp>
      <p:sp>
        <p:nvSpPr>
          <p:cNvPr id="27" name="Text 25"/>
          <p:cNvSpPr/>
          <p:nvPr/>
        </p:nvSpPr>
        <p:spPr>
          <a:xfrm>
            <a:off x="8429549" y="5184648"/>
            <a:ext cx="301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CLIENTS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29549" y="5477256"/>
            <a:ext cx="301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SOEs &amp; Fortune Global 500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/   CLIENTS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Trusted by China's leading enterprises</a:t>
            </a:r>
            <a:endParaRPr lang="en-US" sz="3300" spc="-9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Long-serving central state-owned enterprises and Fortune Global 500 leaders rely on FCG to run mission-critical corporate travel.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33008" y="2148840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399968" y="2140676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9066047" y="2148840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566928" y="3904488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3399968" y="3904488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9"/>
          <p:cNvSpPr/>
          <p:nvPr/>
        </p:nvSpPr>
        <p:spPr>
          <a:xfrm>
            <a:off x="6233008" y="3904488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0"/>
          <p:cNvSpPr/>
          <p:nvPr/>
        </p:nvSpPr>
        <p:spPr>
          <a:xfrm>
            <a:off x="9066047" y="3904488"/>
            <a:ext cx="25587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1"/>
          <p:cNvSpPr/>
          <p:nvPr/>
        </p:nvSpPr>
        <p:spPr>
          <a:xfrm>
            <a:off x="566928" y="5943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r>
              <a:rPr lang="en-US" sz="13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Grid · China Mobile · Ping An</a:t>
            </a:r>
            <a:r>
              <a:rPr lang="en-US" sz="13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and many more across energy, technology, manufacturing &amp; financial services.</a:t>
            </a:r>
            <a:endParaRPr lang="en-US" sz="1300" dirty="0"/>
          </a:p>
        </p:txBody>
      </p:sp>
      <p:sp>
        <p:nvSpPr>
          <p:cNvPr id="22" name="Text 1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3" name="Text 13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4249EB4-3122-D649-8AC3-E68E42557C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869" y="2715452"/>
            <a:ext cx="2136839" cy="369026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4D61E1F-7449-B3F0-5890-4A6D48695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0922" y="2596242"/>
            <a:ext cx="2077548" cy="58614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072700B7-27A8-CE68-95D4-0C01D13687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0163" y="4034687"/>
            <a:ext cx="1138330" cy="12051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4702BC-4200-1AEC-3CC3-4AE1A9032D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180" y="4086099"/>
            <a:ext cx="1102213" cy="112058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4F3D4B9-2D74-6D12-BAA1-9A275BBE53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094" y="4183380"/>
            <a:ext cx="1641856" cy="92354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7936E6-2DC8-2FBE-2571-848208E723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5220" y="2106377"/>
            <a:ext cx="1560372" cy="156037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376B53D-D4FF-A0EE-1B03-387AAB3BD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8743" y="2122826"/>
            <a:ext cx="2340558" cy="156037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08AF0E1-18E0-086E-51FC-608F6A8B63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549" y="4160520"/>
            <a:ext cx="2521713" cy="953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/   GLOBAL FOOTPRINT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we operate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Headquartered in Hong Kong, strongest in China — global servicing from Kuala Lumpur, with APAC and European reach.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9893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HEADQUARTERS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227072"/>
            <a:ext cx="539176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69388"/>
            <a:ext cx="512064" cy="384048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9" name="Text 6"/>
          <p:cNvSpPr/>
          <p:nvPr/>
        </p:nvSpPr>
        <p:spPr>
          <a:xfrm>
            <a:off x="1481328" y="2368804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Hong Kong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81328" y="2661412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50" b="1" kern="0" spc="200" dirty="0">
                <a:solidFill>
                  <a:srgbClr val="C85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HEADQUARTERS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33008" y="2227072"/>
            <a:ext cx="539176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752" y="2469388"/>
            <a:ext cx="512064" cy="384048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14" name="Text 10"/>
          <p:cNvSpPr/>
          <p:nvPr/>
        </p:nvSpPr>
        <p:spPr>
          <a:xfrm>
            <a:off x="7147408" y="2368804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Shenzhen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147408" y="2661412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50" b="1" kern="0" spc="200" dirty="0">
                <a:solidFill>
                  <a:srgbClr val="C85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HQ &amp; TECHNOLOGY CENTRE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66928" y="330606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SERVICING CENTRES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66928" y="3543808"/>
            <a:ext cx="539176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786124"/>
            <a:ext cx="512064" cy="384048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20" name="Text 15"/>
          <p:cNvSpPr/>
          <p:nvPr/>
        </p:nvSpPr>
        <p:spPr>
          <a:xfrm>
            <a:off x="1481328" y="3685540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Kuala Lumpur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81328" y="3978148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50" b="1" kern="0" spc="200" dirty="0">
                <a:solidFill>
                  <a:srgbClr val="C85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SERVICING CENTRE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33008" y="3543808"/>
            <a:ext cx="539176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752" y="3786124"/>
            <a:ext cx="512064" cy="384048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25" name="Text 19"/>
          <p:cNvSpPr/>
          <p:nvPr/>
        </p:nvSpPr>
        <p:spPr>
          <a:xfrm>
            <a:off x="7147408" y="3685540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Wuhan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147408" y="3978148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50" b="1" kern="0" spc="200" dirty="0">
                <a:solidFill>
                  <a:srgbClr val="C85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SERVICING CENTRE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66928" y="46228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OFFICES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66928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31" name="Text 24"/>
          <p:cNvSpPr/>
          <p:nvPr/>
        </p:nvSpPr>
        <p:spPr>
          <a:xfrm>
            <a:off x="1170432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Beijing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70432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2440381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685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36" name="Text 28"/>
          <p:cNvSpPr/>
          <p:nvPr/>
        </p:nvSpPr>
        <p:spPr>
          <a:xfrm>
            <a:off x="3043885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Shanghai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043885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4313834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138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1" name="Text 32"/>
          <p:cNvSpPr/>
          <p:nvPr/>
        </p:nvSpPr>
        <p:spPr>
          <a:xfrm>
            <a:off x="4917338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Singapore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4917338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43" name="Shape 34"/>
          <p:cNvSpPr/>
          <p:nvPr/>
        </p:nvSpPr>
        <p:spPr>
          <a:xfrm>
            <a:off x="6187288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592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6" name="Text 36"/>
          <p:cNvSpPr/>
          <p:nvPr/>
        </p:nvSpPr>
        <p:spPr>
          <a:xfrm>
            <a:off x="6790792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Thailand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6790792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48" name="Shape 38"/>
          <p:cNvSpPr/>
          <p:nvPr/>
        </p:nvSpPr>
        <p:spPr>
          <a:xfrm>
            <a:off x="8060741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7045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1" name="Text 40"/>
          <p:cNvSpPr/>
          <p:nvPr/>
        </p:nvSpPr>
        <p:spPr>
          <a:xfrm>
            <a:off x="8664245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Vietnam</a:t>
            </a:r>
            <a:endParaRPr lang="en-US" sz="1200" dirty="0"/>
          </a:p>
        </p:txBody>
      </p:sp>
      <p:sp>
        <p:nvSpPr>
          <p:cNvPr id="52" name="Text 41"/>
          <p:cNvSpPr/>
          <p:nvPr/>
        </p:nvSpPr>
        <p:spPr>
          <a:xfrm>
            <a:off x="8664245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53" name="Shape 42"/>
          <p:cNvSpPr/>
          <p:nvPr/>
        </p:nvSpPr>
        <p:spPr>
          <a:xfrm>
            <a:off x="9934194" y="4860544"/>
            <a:ext cx="169057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0498" y="5137150"/>
            <a:ext cx="384048" cy="2880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6" name="Text 44"/>
          <p:cNvSpPr/>
          <p:nvPr/>
        </p:nvSpPr>
        <p:spPr>
          <a:xfrm>
            <a:off x="10537698" y="5043424"/>
            <a:ext cx="10139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London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10537698" y="5299456"/>
            <a:ext cx="10139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58" name="Text 4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59" name="Text 47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60" name="Text 48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 OF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2148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0" spc="-90" dirty="0"/>
          </a:p>
        </p:txBody>
      </p:sp>
      <p:sp>
        <p:nvSpPr>
          <p:cNvPr id="4" name="Shape 2"/>
          <p:cNvSpPr/>
          <p:nvPr/>
        </p:nvSpPr>
        <p:spPr>
          <a:xfrm>
            <a:off x="3337560" y="2651760"/>
            <a:ext cx="0" cy="1417320"/>
          </a:xfrm>
          <a:prstGeom prst="line">
            <a:avLst/>
          </a:prstGeom>
          <a:noFill/>
          <a:ln w="190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Network</a:t>
            </a:r>
            <a:endParaRPr lang="en-US" sz="5000" spc="-90" dirty="0"/>
          </a:p>
        </p:txBody>
      </p:sp>
      <p:sp>
        <p:nvSpPr>
          <p:cNvPr id="6" name="Text 4"/>
          <p:cNvSpPr/>
          <p:nvPr/>
        </p:nvSpPr>
        <p:spPr>
          <a:xfrm>
            <a:off x="3685032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market, the gap, and the decentralized AI-native infrastructure — ADDN — that captures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9035" y="5925312"/>
            <a:ext cx="127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</a:t>
            </a:r>
            <a:r>
              <a:rPr lang="en-US" sz="1000" b="1" kern="0" spc="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9035" y="6236208"/>
            <a:ext cx="950062" cy="0"/>
          </a:xfrm>
          <a:prstGeom prst="line">
            <a:avLst/>
          </a:prstGeom>
          <a:noFill/>
          <a:ln w="2540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0617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92724" y="5925312"/>
            <a:ext cx="1813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 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shifts have opened the window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of travel distribution is up for grabs for the first time in a generation — and two-way China travel is wide open.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50306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5146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129280"/>
            <a:ext cx="30001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travel is roaring back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687064"/>
            <a:ext cx="3000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Outbound is reclaiming its #1-in-the-world spot (~145M trips/yr) and inbound spend rose ~15% to USD 135B — demand surging in both directions.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4314" y="2240280"/>
            <a:ext cx="350306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18634" y="25146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8634" y="3129280"/>
            <a:ext cx="30001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GDS lock is breaking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18634" y="3687064"/>
            <a:ext cx="3000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Airlines are attacking GDS segment fees and pushing NDC; legacy TMCs are still not delivering it. The centralized model is loosening for the first time.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1701" y="2240280"/>
            <a:ext cx="350306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396021" y="25146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96021" y="3129280"/>
            <a:ext cx="30001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+ cloud reset the cost base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96021" y="3687064"/>
            <a:ext cx="3000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Cloud-native, AI-native challengers (Navan's USD 6.2B IPO, Spotnana) have proven the model — the infrastructure layer can be rebuilt from scratch, now.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66928" y="4828032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32688" y="4828032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   </a:t>
            </a:r>
            <a:r>
              <a:rPr lang="en-US" sz="12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Incumbents are distracted by consolidation (Amex GBT–CWT, Sabre, Amadeus). The window to own the next-generation network — and two-way China travel — is now.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66928" y="614476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4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GBTA Business Travel Index 2025 · WTTC 2026 · UN Tourism · public company disclosures.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THE PRIZE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USD 1.6T market — and the two-way flow only we serve</a:t>
            </a:r>
            <a:endParaRPr lang="en-US" sz="29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business travel is at an all-time high — and its fastest-growing, least-served segment is two-way China travel.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11057839" cy="1188720"/>
          </a:xfrm>
          <a:prstGeom prst="roundRect">
            <a:avLst>
              <a:gd name="adj" fmla="val 7692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2286000"/>
            <a:ext cx="28559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USD 1.57T</a:t>
            </a:r>
            <a:endParaRPr lang="en-US" sz="4400" spc="-90" dirty="0"/>
          </a:p>
        </p:txBody>
      </p:sp>
      <p:sp>
        <p:nvSpPr>
          <p:cNvPr id="7" name="Text 5"/>
          <p:cNvSpPr/>
          <p:nvPr/>
        </p:nvSpPr>
        <p:spPr>
          <a:xfrm>
            <a:off x="978408" y="2907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BUSINESS-TRAVEL SPEND, 2025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0" y="25054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0409" y="2436223"/>
            <a:ext cx="2360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spc="-90" dirty="0">
                <a:latin typeface="Sora" pitchFamily="34" charset="0"/>
                <a:cs typeface="Sora" pitchFamily="34" charset="-120"/>
              </a:rPr>
              <a:t>USD 2T+</a:t>
            </a:r>
          </a:p>
        </p:txBody>
      </p:sp>
      <p:sp>
        <p:nvSpPr>
          <p:cNvPr id="10" name="Text 7"/>
          <p:cNvSpPr/>
          <p:nvPr/>
        </p:nvSpPr>
        <p:spPr>
          <a:xfrm>
            <a:off x="5593188" y="2889504"/>
            <a:ext cx="2104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2029   ·   ~7% CAGR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385048" y="2331720"/>
            <a:ext cx="0" cy="777240"/>
          </a:xfrm>
          <a:prstGeom prst="line">
            <a:avLst/>
          </a:prstGeom>
          <a:noFill/>
          <a:ln w="1270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59368" y="2286000"/>
            <a:ext cx="26453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is the #2 market on earth at USD 373B</a:t>
            </a: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China + US alone are ~58% of the top 15 markets.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584448"/>
            <a:ext cx="539175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41248" y="3749040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USD ~280B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50392" y="4187952"/>
            <a:ext cx="3045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OUTBOUND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0392" y="4443984"/>
            <a:ext cx="3000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World's largest source market, ~145M trips/yr — and rebounding fast.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33007" y="3584448"/>
            <a:ext cx="539175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07327" y="3749040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USD 135B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516471" y="4187952"/>
            <a:ext cx="3045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INBOUND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16471" y="4443984"/>
            <a:ext cx="3000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Foreign-visitor spend, up ~15% YoY — the fastest-growing major market.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5175504"/>
            <a:ext cx="11057839" cy="694944"/>
          </a:xfrm>
          <a:prstGeom prst="roundRect">
            <a:avLst>
              <a:gd name="adj" fmla="val 10526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2688" y="51755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WEDGE   </a:t>
            </a:r>
            <a:r>
              <a:rPr lang="en-US" sz="12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GDS serves the global market one way. No one bridges China in both directions, compliantly — that gap is FCG's.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614476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4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GBTA Business Travel Index 2025 (US $395B, China $373B) · WTTC 2026 · UN Tourism · FMI. Figures rounded.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WHERE WE PLAY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FCG sits — in the white space no one owns</a:t>
            </a:r>
            <a:endParaRPr lang="en-US" sz="3300" spc="-90" dirty="0"/>
          </a:p>
        </p:txBody>
      </p:sp>
      <p:sp>
        <p:nvSpPr>
          <p:cNvPr id="4" name="Shape 2"/>
          <p:cNvSpPr/>
          <p:nvPr/>
        </p:nvSpPr>
        <p:spPr>
          <a:xfrm>
            <a:off x="3886200" y="3977640"/>
            <a:ext cx="3063240" cy="1691640"/>
          </a:xfrm>
          <a:prstGeom prst="rect">
            <a:avLst/>
          </a:prstGeom>
          <a:solidFill>
            <a:srgbClr val="FFF1E6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0" y="2194560"/>
            <a:ext cx="0" cy="3566160"/>
          </a:xfrm>
          <a:prstGeom prst="line">
            <a:avLst/>
          </a:prstGeom>
          <a:noFill/>
          <a:ln w="1587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6309360" cy="0"/>
          </a:xfrm>
          <a:prstGeom prst="line">
            <a:avLst/>
          </a:prstGeom>
          <a:noFill/>
          <a:ln w="1587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7510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/ TMC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INFRASTRUCTURE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666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· ONE-WAY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80560" y="36667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TWO-WAY + GLOBAL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79676" y="2894076"/>
            <a:ext cx="137160" cy="137160"/>
          </a:xfrm>
          <a:prstGeom prst="ellipse">
            <a:avLst/>
          </a:prstGeom>
          <a:solidFill>
            <a:srgbClr val="8A95A5"/>
          </a:solidFill>
          <a:ln w="12700">
            <a:solidFill>
              <a:srgbClr val="8A9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28437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Navan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59913" y="3300070"/>
            <a:ext cx="137160" cy="137160"/>
          </a:xfrm>
          <a:prstGeom prst="ellipse">
            <a:avLst/>
          </a:prstGeom>
          <a:solidFill>
            <a:srgbClr val="8A95A5"/>
          </a:solidFill>
          <a:ln w="12700">
            <a:solidFill>
              <a:srgbClr val="8A9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93085" y="324977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TravelPerk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5446" y="2894076"/>
            <a:ext cx="137160" cy="137160"/>
          </a:xfrm>
          <a:prstGeom prst="ellipse">
            <a:avLst/>
          </a:prstGeom>
          <a:solidFill>
            <a:srgbClr val="8A95A5"/>
          </a:solidFill>
          <a:ln w="12700">
            <a:solidFill>
              <a:srgbClr val="8A9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68066" y="28437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Trip.com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24735" y="4450385"/>
            <a:ext cx="137160" cy="137160"/>
          </a:xfrm>
          <a:prstGeom prst="ellipse">
            <a:avLst/>
          </a:prstGeom>
          <a:solidFill>
            <a:srgbClr val="8A95A5"/>
          </a:solidFill>
          <a:ln w="12700">
            <a:solidFill>
              <a:srgbClr val="8A9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7907" y="4400093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Spotnana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50822" y="5059375"/>
            <a:ext cx="137160" cy="137160"/>
          </a:xfrm>
          <a:prstGeom prst="ellipse">
            <a:avLst/>
          </a:prstGeom>
          <a:solidFill>
            <a:srgbClr val="8A95A5"/>
          </a:solidFill>
          <a:ln w="12700">
            <a:solidFill>
              <a:srgbClr val="8A9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83994" y="5009083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Legacy GDS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69357" y="4882896"/>
            <a:ext cx="219456" cy="219456"/>
          </a:xfrm>
          <a:prstGeom prst="ellipse">
            <a:avLst/>
          </a:prstGeom>
          <a:solidFill>
            <a:srgbClr val="FF7315"/>
          </a:solidFill>
          <a:ln w="1270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13125" y="48737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FCG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69480" y="2377440"/>
            <a:ext cx="4355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LANDSCAPE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779776"/>
            <a:ext cx="164592" cy="16459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62088" y="2706624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Western platforms (Spotnana, GDS)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62088" y="2990088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Global, but can't transact compliantly into China.</a:t>
            </a:r>
            <a:endParaRPr lang="en-US" sz="11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621024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62088" y="3547872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OTAs (Trip.com)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562088" y="3831336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 China, but no global network of their own.</a:t>
            </a:r>
            <a:endParaRPr lang="en-US" sz="11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462272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562088" y="4389120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 TMCs (Navan, TravelPerk)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7562088" y="4672584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Demand-side apps that rely on others' supply.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269480" y="5285232"/>
            <a:ext cx="4355287" cy="603504"/>
          </a:xfrm>
          <a:prstGeom prst="roundRect">
            <a:avLst>
              <a:gd name="adj" fmla="val 12121"/>
            </a:avLst>
          </a:prstGeom>
          <a:solidFill>
            <a:srgbClr val="FFF1E6"/>
          </a:solidFill>
          <a:ln w="1397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525512" y="5285232"/>
            <a:ext cx="38980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100" b="1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FCG  </a:t>
            </a:r>
            <a:r>
              <a:rPr lang="en-US" sz="11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its own network, serving two-way China travel and scaling worldwide.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66928" y="614476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4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positioning. Sources: company disclosures · Tracxn · industry analysis 2025–26.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Legacy GDS was not built for this world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incumbent distribution model is costly and rigid, leaving a market gap no global player has closed — least of all in two-way China travel.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57243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743200"/>
            <a:ext cx="2069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Centralized &amp; dated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3108960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Decades-old, monolithic architecture — slow to evolve, single points of failure.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95396" y="2240280"/>
            <a:ext cx="257243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69716" y="2743200"/>
            <a:ext cx="2069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High take-rate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69716" y="3108960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commissions and fees inflate the cost of every transaction.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23864" y="2240280"/>
            <a:ext cx="257243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498184" y="2743200"/>
            <a:ext cx="2069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Rigid &amp; one-way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98184" y="3108960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Closed, one-directional distribution that's hard to adapt or scale.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331" y="2240280"/>
            <a:ext cx="257243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326651" y="2743200"/>
            <a:ext cx="2069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Poor market fit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26651" y="3108960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adapt to China's rules, local supply, or compliant cross-border payment.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434840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932688" y="4690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   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32688" y="4983480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low-cost, high-efficiency, fully traceable network — China-compliant and globally replicable — that closes the gap legacy GDS leaves open on both sides of the border.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China · Out China</a:t>
            </a:r>
            <a:r>
              <a:rPr lang="en-US" sz="3100" b="1" spc="-9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 —  a two-way global network</a:t>
            </a:r>
            <a:endParaRPr lang="en-US" sz="31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as the central hub of a worldwide accommodation, distribution and cross-border payment network — flowing in both directions.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 CHINA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752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outbound — enterprises going global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6968" y="30815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Chinese multinationals to global hotel supply, overseas travel inventory and cross-border payment — one-stop procurement, control and settlement.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5296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supply for central SOEs &amp; large enterprises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028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5296" y="4544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Standardized, centralized overseas travel management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5721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5111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cost control &amp; compliance, worldwide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10048" y="3337560"/>
            <a:ext cx="1371600" cy="1371600"/>
          </a:xfrm>
          <a:prstGeom prst="ellipse">
            <a:avLst/>
          </a:prstGeom>
          <a:solidFill>
            <a:srgbClr val="FFF1E6"/>
          </a:solidFill>
          <a:ln w="1905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321808" y="3794760"/>
            <a:ext cx="1548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256" y="2788920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21808" y="2480000"/>
            <a:ext cx="1548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</a:t>
            </a:r>
            <a:endParaRPr lang="en-US" sz="8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56" y="4928616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21808" y="5257800"/>
            <a:ext cx="1548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</a:t>
            </a:r>
            <a:endParaRPr lang="en-US" sz="800" dirty="0"/>
          </a:p>
        </p:txBody>
      </p:sp>
      <p:sp>
        <p:nvSpPr>
          <p:cNvPr id="22" name="Shape 14"/>
          <p:cNvSpPr/>
          <p:nvPr/>
        </p:nvSpPr>
        <p:spPr>
          <a:xfrm>
            <a:off x="6869887" y="214884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7189927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 CHINA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7189927" y="2752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Global inbound — the gateway into China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7189927" y="30815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standardized China hotel supply and localized, compliant payment to overseas TMCs, international agencies and foreign business travelers.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402336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528255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Ready-to-integrate China local supply chain</a:t>
            </a:r>
            <a:endParaRPr lang="en-US" sz="11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459028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528255" y="4544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Localized, compliant cross-border payment</a:t>
            </a:r>
            <a:endParaRPr lang="en-US" sz="11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515721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528255" y="5111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Closes the gap legacy GDS cannot serve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3" name="Text 22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ADDN</a:t>
            </a:r>
            <a:r>
              <a:rPr lang="en-US" sz="31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 —  the AI-native decentralized network</a:t>
            </a:r>
            <a:endParaRPr lang="en-US" sz="31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AI-Powered Decentralized Distribution Network — an industry-first, independently deployable travel &amp; payment infrastructure that replaces the centralized GDS core.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3104068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Always on, scales on demand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9536" y="3680140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and distributed — runs across many independent hubs, with no central system to overload or crash.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4314" y="224028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36922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922" y="3104068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middleman, no markup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6922" y="3680140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connects straight to supply — cutting out the intermediaries and the fees they add to every booking.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21701" y="224028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414309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4309" y="3104068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Full-Chain AI Intelligence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14309" y="3680140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runs the whole journey — sourcing, mapping, booking, servicing and settlement, end to end.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66928" y="4828032"/>
            <a:ext cx="11057839" cy="987552"/>
          </a:xfrm>
          <a:prstGeom prst="roundRect">
            <a:avLst>
              <a:gd name="adj" fmla="val 9259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32688" y="4828032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395728" y="5138928"/>
            <a:ext cx="1042416" cy="384048"/>
          </a:xfrm>
          <a:prstGeom prst="roundRect">
            <a:avLst>
              <a:gd name="adj" fmla="val 11905"/>
            </a:avLst>
          </a:prstGeom>
          <a:solidFill>
            <a:srgbClr val="F6F7F9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2395728" y="513892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cost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639312" y="5138928"/>
            <a:ext cx="1714500" cy="384048"/>
          </a:xfrm>
          <a:prstGeom prst="roundRect">
            <a:avLst>
              <a:gd name="adj" fmla="val 11905"/>
            </a:avLst>
          </a:prstGeom>
          <a:solidFill>
            <a:srgbClr val="F6F7F9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39312" y="5138928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efficiency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554980" y="5138928"/>
            <a:ext cx="1714500" cy="384048"/>
          </a:xfrm>
          <a:prstGeom prst="roundRect">
            <a:avLst>
              <a:gd name="adj" fmla="val 11905"/>
            </a:avLst>
          </a:prstGeom>
          <a:solidFill>
            <a:srgbClr val="F6F7F9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554980" y="5138928"/>
            <a:ext cx="1714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compliant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7470648" y="5138928"/>
            <a:ext cx="1779488" cy="384048"/>
          </a:xfrm>
          <a:prstGeom prst="roundRect">
            <a:avLst>
              <a:gd name="adj" fmla="val 11905"/>
            </a:avLst>
          </a:prstGeom>
          <a:solidFill>
            <a:srgbClr val="F6F7F9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470648" y="5138928"/>
            <a:ext cx="177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traceable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9451304" y="5138928"/>
            <a:ext cx="1686088" cy="384048"/>
          </a:xfrm>
          <a:prstGeom prst="roundRect">
            <a:avLst>
              <a:gd name="adj" fmla="val 11905"/>
            </a:avLst>
          </a:prstGeom>
          <a:solidFill>
            <a:srgbClr val="F6F7F9"/>
          </a:solidFill>
          <a:ln w="9525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9451304" y="5138928"/>
            <a:ext cx="168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Globally replicable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TECHNOLOGY  ·  LIVE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ADDN network</a:t>
            </a:r>
            <a:r>
              <a:rPr lang="en-US" sz="3100" b="1" spc="-90" dirty="0">
                <a:solidFill>
                  <a:srgbClr val="545C6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 —  live and expanding</a:t>
            </a:r>
            <a:endParaRPr lang="en-US" sz="31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live hubs today — Hong Kong, Singapore and China (Wuhan) — with new regions and countries able to join on demand.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31720" y="3429000"/>
            <a:ext cx="2651760" cy="0"/>
          </a:xfrm>
          <a:prstGeom prst="line">
            <a:avLst/>
          </a:prstGeom>
          <a:noFill/>
          <a:ln w="1905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31720" y="3429000"/>
            <a:ext cx="1325880" cy="1737360"/>
          </a:xfrm>
          <a:prstGeom prst="line">
            <a:avLst/>
          </a:prstGeom>
          <a:noFill/>
          <a:ln w="1905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3657600" y="3429000"/>
            <a:ext cx="1325880" cy="1737360"/>
          </a:xfrm>
          <a:prstGeom prst="line">
            <a:avLst/>
          </a:prstGeom>
          <a:noFill/>
          <a:ln w="1905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0" y="2606040"/>
            <a:ext cx="0" cy="822960"/>
          </a:xfrm>
          <a:prstGeom prst="line">
            <a:avLst/>
          </a:prstGeom>
          <a:noFill/>
          <a:ln w="13970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3429000"/>
            <a:ext cx="960120" cy="1280160"/>
          </a:xfrm>
          <a:prstGeom prst="line">
            <a:avLst/>
          </a:prstGeom>
          <a:noFill/>
          <a:ln w="13970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371600" y="3429000"/>
            <a:ext cx="960120" cy="1280160"/>
          </a:xfrm>
          <a:prstGeom prst="line">
            <a:avLst/>
          </a:prstGeom>
          <a:noFill/>
          <a:ln w="13970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3715512"/>
            <a:ext cx="2286000" cy="585216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 w="15875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3889248"/>
            <a:ext cx="256032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063240" y="371551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</a:rPr>
              <a:t>ESSENTIAL DATA 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37360" y="283464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7315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267712" y="3017520"/>
            <a:ext cx="128016" cy="128016"/>
          </a:xfrm>
          <a:prstGeom prst="ellipse">
            <a:avLst/>
          </a:prstGeom>
          <a:solidFill>
            <a:srgbClr val="FF7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737360" y="32735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Hong Kong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73736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HK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9120" y="283464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7315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19472" y="3017520"/>
            <a:ext cx="128016" cy="128016"/>
          </a:xfrm>
          <a:prstGeom prst="ellipse">
            <a:avLst/>
          </a:prstGeom>
          <a:solidFill>
            <a:srgbClr val="FF7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89120" y="32735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Singapore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38912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SG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063240" y="45720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7315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593592" y="4754880"/>
            <a:ext cx="128016" cy="128016"/>
          </a:xfrm>
          <a:prstGeom prst="ellipse">
            <a:avLst/>
          </a:prstGeom>
          <a:solidFill>
            <a:srgbClr val="FF7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063240" y="5010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· Wuhan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063240" y="5303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CN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236976" y="2185416"/>
            <a:ext cx="841248" cy="841248"/>
          </a:xfrm>
          <a:prstGeom prst="ellipse">
            <a:avLst/>
          </a:prstGeom>
          <a:solidFill>
            <a:srgbClr val="F6F7F9"/>
          </a:solidFill>
          <a:ln w="15875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36976" y="21854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522976" y="4288536"/>
            <a:ext cx="841248" cy="841248"/>
          </a:xfrm>
          <a:prstGeom prst="ellipse">
            <a:avLst/>
          </a:prstGeom>
          <a:solidFill>
            <a:srgbClr val="F6F7F9"/>
          </a:solidFill>
          <a:ln w="15875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22976" y="42885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50976" y="4288536"/>
            <a:ext cx="841248" cy="841248"/>
          </a:xfrm>
          <a:prstGeom prst="ellipse">
            <a:avLst/>
          </a:prstGeom>
          <a:solidFill>
            <a:srgbClr val="F6F7F9"/>
          </a:solidFill>
          <a:ln w="15875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50976" y="42885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868680" y="6035040"/>
            <a:ext cx="118872" cy="118872"/>
          </a:xfrm>
          <a:prstGeom prst="ellipse">
            <a:avLst/>
          </a:prstGeom>
          <a:solidFill>
            <a:srgbClr val="FF7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78992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 ·  3 HUBS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743200" y="6021324"/>
            <a:ext cx="146304" cy="146304"/>
          </a:xfrm>
          <a:prstGeom prst="ellipse">
            <a:avLst/>
          </a:prstGeom>
          <a:solidFill>
            <a:srgbClr val="F6F7F9"/>
          </a:solidFill>
          <a:ln w="15875">
            <a:solidFill>
              <a:srgbClr val="C853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999232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EXPANSION-READY  —  ADD ANY REGION OR COUNTRY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720840" y="1901952"/>
            <a:ext cx="4903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NETWORK WORKS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720840" y="2286000"/>
            <a:ext cx="4903927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958584" y="2414016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Decentralized &amp; autonomous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6958584" y="2706624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hub runs the full system on its own — no central server, no master hub.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720840" y="3282696"/>
            <a:ext cx="4903927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958584" y="3410712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Shares only what’s needed</a:t>
            </a:r>
          </a:p>
        </p:txBody>
      </p:sp>
      <p:sp>
        <p:nvSpPr>
          <p:cNvPr id="46" name="Text 41"/>
          <p:cNvSpPr/>
          <p:nvPr/>
        </p:nvSpPr>
        <p:spPr>
          <a:xfrm>
            <a:off x="6958584" y="3703320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 exchange only what a booking needs — never bulk data — so it stays in its home region.</a:t>
            </a:r>
          </a:p>
        </p:txBody>
      </p:sp>
      <p:sp>
        <p:nvSpPr>
          <p:cNvPr id="47" name="Shape 42"/>
          <p:cNvSpPr/>
          <p:nvPr/>
        </p:nvSpPr>
        <p:spPr>
          <a:xfrm>
            <a:off x="6720840" y="4279392"/>
            <a:ext cx="4903927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6958584" y="4407408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Resilient by design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6958584" y="4700016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one hub goes offline, the rest keep running — no single system failure can take it all down.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6720840" y="5276088"/>
            <a:ext cx="4903927" cy="905256"/>
          </a:xfrm>
          <a:prstGeom prst="roundRect">
            <a:avLst>
              <a:gd name="adj" fmla="val 10101"/>
            </a:avLst>
          </a:prstGeom>
          <a:solidFill>
            <a:srgbClr val="FFF1E6"/>
          </a:solidFill>
          <a:ln w="13970">
            <a:solidFill>
              <a:srgbClr val="C8530A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6958584" y="5404104"/>
            <a:ext cx="4428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 on demand</a:t>
            </a:r>
            <a:endParaRPr lang="en-US" sz="1400" dirty="0"/>
          </a:p>
        </p:txBody>
      </p:sp>
      <p:sp>
        <p:nvSpPr>
          <p:cNvPr id="56" name="Text 49"/>
          <p:cNvSpPr/>
          <p:nvPr/>
        </p:nvSpPr>
        <p:spPr>
          <a:xfrm>
            <a:off x="6958584" y="5696712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</a:pPr>
            <a:r>
              <a:rPr lang="en-US" sz="10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hub in any new region or country — it joins automatically, with no central rebuild.</a:t>
            </a:r>
            <a:endParaRPr lang="en-US" sz="1050" dirty="0"/>
          </a:p>
        </p:txBody>
      </p:sp>
      <p:sp>
        <p:nvSpPr>
          <p:cNvPr id="57" name="Text 5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TECHNOLOGY  ·  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ADDN vs. legacy GDS</a:t>
            </a:r>
            <a:endParaRPr lang="en-US" sz="3300" spc="-90" dirty="0"/>
          </a:p>
        </p:txBody>
      </p:sp>
      <p:sp>
        <p:nvSpPr>
          <p:cNvPr id="4" name="Shape 2"/>
          <p:cNvSpPr/>
          <p:nvPr/>
        </p:nvSpPr>
        <p:spPr>
          <a:xfrm>
            <a:off x="3035808" y="1481328"/>
            <a:ext cx="4294480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35808" y="1481328"/>
            <a:ext cx="429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GDS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40016" y="1481328"/>
            <a:ext cx="4184752" cy="548640"/>
          </a:xfrm>
          <a:prstGeom prst="roundRect">
            <a:avLst>
              <a:gd name="adj" fmla="val 8333"/>
            </a:avLst>
          </a:prstGeom>
          <a:solidFill>
            <a:srgbClr val="FFF1E6"/>
          </a:solidFill>
          <a:ln w="15875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40016" y="1481328"/>
            <a:ext cx="418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FCG  ADDN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212140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35808" y="2121408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2299716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538728" y="2121408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Decades-old, all-in-one system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40016" y="2121408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2299716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42936" y="2121408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and flexible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12648" y="2752344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035808" y="2752344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293065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8728" y="2752344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Intermediated, one-directional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440016" y="2752344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2930652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42936" y="2752344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buyer-to-supplier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12648" y="3383280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Cost model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035808" y="3383280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3561588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538728" y="3383280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commissions &amp; fees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440016" y="3383280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3561588"/>
            <a:ext cx="164592" cy="16459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42936" y="3383280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Low-cost, transparent pricing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12648" y="4014216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Flexibility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3035808" y="4014216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4192524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538728" y="4014216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Rigid, slow to evolve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7440016" y="4014216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4192524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942936" y="4014216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Modular, independently deployable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612648" y="46451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fit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3035808" y="4645152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4823460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538728" y="4645152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localization, one-way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7440016" y="4645152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4823460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942936" y="4645152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China-compliant, two-way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612648" y="527608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3035808" y="5276088"/>
            <a:ext cx="42944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5454396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538728" y="5276088"/>
            <a:ext cx="365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Added-on, fragmented</a:t>
            </a:r>
            <a:endParaRPr lang="en-US" sz="1150" dirty="0"/>
          </a:p>
        </p:txBody>
      </p:sp>
      <p:sp>
        <p:nvSpPr>
          <p:cNvPr id="47" name="Shape 34"/>
          <p:cNvSpPr/>
          <p:nvPr/>
        </p:nvSpPr>
        <p:spPr>
          <a:xfrm>
            <a:off x="7440016" y="5276088"/>
            <a:ext cx="4184752" cy="521208"/>
          </a:xfrm>
          <a:prstGeom prst="roundRect">
            <a:avLst>
              <a:gd name="adj" fmla="val 7018"/>
            </a:avLst>
          </a:prstGeom>
          <a:solidFill>
            <a:srgbClr val="FFF1E6"/>
          </a:solidFill>
          <a:ln w="1143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184" y="5454396"/>
            <a:ext cx="164592" cy="16459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942936" y="5276088"/>
            <a:ext cx="3544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built in, end to end</a:t>
            </a:r>
          </a:p>
        </p:txBody>
      </p:sp>
      <p:sp>
        <p:nvSpPr>
          <p:cNvPr id="50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2" name="Text 38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moat that compounds — and can't be bought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hub, client and transaction deepens our supply, data and reach — an advantage a new entrant can't replicate.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534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454656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Supply that can't be rebuilt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039872"/>
            <a:ext cx="477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4.35M+ global hotel records, 1.35M+ China hotel records, 35K+ direct independents, and SOE &amp; Fortune 500 trust built over 13 years — a head start a new entrant can't buy.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8728" y="2176272"/>
            <a:ext cx="534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571336" y="2454656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Owned, decentralized network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71336" y="3039872"/>
            <a:ext cx="477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ADDN is ours, end to end — no GDS fees, no central dependency, deployable in any market.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3950208"/>
            <a:ext cx="534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59536" y="4228592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and out of China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9536" y="4813808"/>
            <a:ext cx="477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cross-border payment in both directions. Western systems can't enter China; China OTAs can't go global on owned on a network of their own currently.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78728" y="3950208"/>
            <a:ext cx="534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571336" y="4228592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Compliant yet expandable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71336" y="4813808"/>
            <a:ext cx="477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where it must be, deployable wherever it must scale.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5742432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32688" y="5742432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NET-NET   </a:t>
            </a:r>
            <a:r>
              <a:rPr lang="en-US" sz="1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Supply, network and trust compound together — the moat widens with every hub we add.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/   TRAVEL 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Hotel &amp; flight supply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 SUPPLY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4.35M+</a:t>
            </a:r>
            <a:endParaRPr lang="en-US" sz="2500" spc="-90" dirty="0"/>
          </a:p>
        </p:txBody>
      </p:sp>
      <p:sp>
        <p:nvSpPr>
          <p:cNvPr id="7" name="Text 5"/>
          <p:cNvSpPr/>
          <p:nvPr/>
        </p:nvSpPr>
        <p:spPr>
          <a:xfrm>
            <a:off x="832104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HOTEL RECORDS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93008" y="181051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9568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1.35M+</a:t>
            </a:r>
            <a:endParaRPr lang="en-US" sz="2500" spc="-90" dirty="0"/>
          </a:p>
        </p:txBody>
      </p:sp>
      <p:sp>
        <p:nvSpPr>
          <p:cNvPr id="10" name="Text 8"/>
          <p:cNvSpPr/>
          <p:nvPr/>
        </p:nvSpPr>
        <p:spPr>
          <a:xfrm>
            <a:off x="3758184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HOTEL RECORDS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35K+</a:t>
            </a:r>
            <a:endParaRPr lang="en-US" sz="2500" spc="-90" dirty="0"/>
          </a:p>
        </p:txBody>
      </p:sp>
      <p:sp>
        <p:nvSpPr>
          <p:cNvPr id="13" name="Text 11"/>
          <p:cNvSpPr/>
          <p:nvPr/>
        </p:nvSpPr>
        <p:spPr>
          <a:xfrm>
            <a:off x="832104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CN INDEPENDENTS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93008" y="292608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220+</a:t>
            </a:r>
            <a:endParaRPr lang="en-US" sz="2500" spc="-90" dirty="0"/>
          </a:p>
        </p:txBody>
      </p:sp>
      <p:sp>
        <p:nvSpPr>
          <p:cNvPr id="16" name="Text 14"/>
          <p:cNvSpPr/>
          <p:nvPr/>
        </p:nvSpPr>
        <p:spPr>
          <a:xfrm>
            <a:off x="3758184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BREAKDOWN — RECORDS BEYOND CHINA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75488" y="4343400"/>
          <a:ext cx="58521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446520" y="1481328"/>
            <a:ext cx="5178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SUPPLY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6520" y="1810512"/>
            <a:ext cx="5178247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20840" y="1929384"/>
            <a:ext cx="4629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720840" y="2212848"/>
            <a:ext cx="4675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Amadeus &amp; Sabre connectivity — ticketing, seat maps, corporate fares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46520" y="2779776"/>
            <a:ext cx="5178247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20840" y="2898648"/>
            <a:ext cx="4629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NDC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720840" y="3182112"/>
            <a:ext cx="4675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Next-generation airline direct distribution for richer content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46520" y="3749040"/>
            <a:ext cx="5178247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0840" y="3867912"/>
            <a:ext cx="4629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LCC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720840" y="4151376"/>
            <a:ext cx="4675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carrier coverage completing the fare ecosystem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46520" y="4718304"/>
            <a:ext cx="5178247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20840" y="4837176"/>
            <a:ext cx="4629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LOADING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720840" y="5120640"/>
            <a:ext cx="4675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rates loaded directly into Amadeus &amp; Sabre GDS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46520" y="5705856"/>
            <a:ext cx="5178247" cy="566928"/>
          </a:xfrm>
          <a:prstGeom prst="roundRect">
            <a:avLst>
              <a:gd name="adj" fmla="val 16129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675120" y="5705856"/>
            <a:ext cx="47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 PLATFORM</a:t>
            </a: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open.fusionconnectgroup.com</a:t>
            </a:r>
            <a:endParaRPr lang="en-US" sz="1050" dirty="0"/>
          </a:p>
        </p:txBody>
      </p:sp>
      <p:sp>
        <p:nvSpPr>
          <p:cNvPr id="60" name="Inventory Note"/>
          <p:cNvSpPr/>
          <p:nvPr/>
        </p:nvSpPr>
        <p:spPr>
          <a:xfrm>
            <a:off x="566928" y="6150000"/>
            <a:ext cx="576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records across all sources; our API de-duplicates them into unique bookable supply.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  OF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2148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0" spc="-90" dirty="0"/>
          </a:p>
        </p:txBody>
      </p:sp>
      <p:sp>
        <p:nvSpPr>
          <p:cNvPr id="4" name="Shape 2"/>
          <p:cNvSpPr/>
          <p:nvPr/>
        </p:nvSpPr>
        <p:spPr>
          <a:xfrm>
            <a:off x="3337560" y="2651760"/>
            <a:ext cx="0" cy="1417320"/>
          </a:xfrm>
          <a:prstGeom prst="line">
            <a:avLst/>
          </a:prstGeom>
          <a:noFill/>
          <a:ln w="190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Products</a:t>
            </a:r>
            <a:endParaRPr lang="en-US" sz="5000" spc="-90" dirty="0"/>
          </a:p>
        </p:txBody>
      </p:sp>
      <p:sp>
        <p:nvSpPr>
          <p:cNvPr id="6" name="Text 4"/>
          <p:cNvSpPr/>
          <p:nvPr/>
        </p:nvSpPr>
        <p:spPr>
          <a:xfrm>
            <a:off x="3685032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modular stack that runs on the network — supply, booking, operations, procurement and payments.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9035" y="5925312"/>
            <a:ext cx="127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0617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</a:t>
            </a:r>
            <a:r>
              <a:rPr lang="en-US" sz="1000" b="1" kern="0" spc="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0617" y="6236208"/>
            <a:ext cx="1040587" cy="0"/>
          </a:xfrm>
          <a:prstGeom prst="line">
            <a:avLst/>
          </a:prstGeom>
          <a:noFill/>
          <a:ln w="2540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92724" y="5925312"/>
            <a:ext cx="1813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 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/  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modular stack, end to end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layer is independently deployable on ADDN — adopt one module or the full network.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experiences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21608" y="2080260"/>
            <a:ext cx="3741268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67328" y="2080260"/>
            <a:ext cx="364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Booking Tool (CBT)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09180" y="2080260"/>
            <a:ext cx="3741268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54900" y="2080260"/>
            <a:ext cx="364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Booking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MID-END  ·  ATLAS TMC 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&amp; 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21608" y="3067812"/>
            <a:ext cx="1408725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67328" y="3067812"/>
            <a:ext cx="131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76637" y="3067812"/>
            <a:ext cx="1408725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22357" y="3067812"/>
            <a:ext cx="131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31665" y="3067812"/>
            <a:ext cx="1408725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77385" y="3067812"/>
            <a:ext cx="131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86694" y="3067812"/>
            <a:ext cx="1408725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32414" y="3067812"/>
            <a:ext cx="131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Duty of Care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41723" y="3067812"/>
            <a:ext cx="1408725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87443" y="3067812"/>
            <a:ext cx="131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895344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9536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4352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&amp; distribution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21608" y="4055364"/>
            <a:ext cx="3741268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67328" y="4055364"/>
            <a:ext cx="364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G-Link  ·  Hotel Supply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09180" y="4055364"/>
            <a:ext cx="3741268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54900" y="4055364"/>
            <a:ext cx="364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F-Link  ·  Flight Supply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4882896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9536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WRAP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" y="5340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Procure, pay &amp; build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21608" y="5042916"/>
            <a:ext cx="2445410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67328" y="5042916"/>
            <a:ext cx="2353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AgreeEase  ·  RFP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13322" y="5042916"/>
            <a:ext cx="2445410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9042" y="5042916"/>
            <a:ext cx="2353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Cross-Border Payments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05037" y="5042916"/>
            <a:ext cx="2445410" cy="548640"/>
          </a:xfrm>
          <a:prstGeom prst="roundRect">
            <a:avLst>
              <a:gd name="adj" fmla="val 833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50757" y="5042916"/>
            <a:ext cx="2353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/ Developer Platform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20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 </a:t>
            </a: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ADDN</a:t>
            </a: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—  AI-powered decentralized distribution &amp; payment network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/  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Booking tools</a:t>
            </a:r>
            <a:endParaRPr lang="en-US" sz="3300" spc="-9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38150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43584" y="2112264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BOOKING TOOL (CBT)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43584" y="2386584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White-label booking for partners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04495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3584" y="29900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white-labelled on your own domain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0215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3584" y="34472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deploy or fully custom build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59352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3584" y="39044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TMCs, resellers &amp; partner agencies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1655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43616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heavy IT lift — fast go-to-market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7375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43584" y="48188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policy &amp; approval workflows built in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278728" y="1783080"/>
            <a:ext cx="5346040" cy="38150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3"/>
          <p:cNvSpPr/>
          <p:nvPr/>
        </p:nvSpPr>
        <p:spPr>
          <a:xfrm>
            <a:off x="6955384" y="2112264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BOOKING TOOL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6955384" y="2386584"/>
            <a:ext cx="434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Natural-language travel booking</a:t>
            </a:r>
            <a:endParaRPr lang="en-US" sz="16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3044952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55384" y="29900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via natural-language chat interface</a:t>
            </a:r>
            <a:endParaRPr lang="en-US" sz="12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3502152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55384" y="34472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via voice commands</a:t>
            </a:r>
            <a:endParaRPr lang="en-US" sz="12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3959352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55384" y="39044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trip planning &amp; itinerary builder</a:t>
            </a:r>
            <a:endParaRPr lang="en-US" sz="12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4416552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955384" y="43616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recommendations</a:t>
            </a:r>
            <a:endParaRPr lang="en-US" sz="12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4873752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955384" y="4818888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to FCG's full content stack</a:t>
            </a:r>
            <a:endParaRPr lang="en-US" sz="1250" dirty="0"/>
          </a:p>
        </p:txBody>
      </p:sp>
      <p:sp>
        <p:nvSpPr>
          <p:cNvPr id="36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7" name="Text 23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24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/   SUPPLY AGGREGATION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G-Link &amp; F-Link</a:t>
            </a:r>
            <a:endParaRPr lang="en-US" sz="3300" spc="-90" dirty="0"/>
          </a:p>
        </p:txBody>
      </p:sp>
      <p:sp>
        <p:nvSpPr>
          <p:cNvPr id="4" name="Shape 2"/>
          <p:cNvSpPr/>
          <p:nvPr/>
        </p:nvSpPr>
        <p:spPr>
          <a:xfrm>
            <a:off x="566928" y="1651000"/>
            <a:ext cx="5346040" cy="39674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850136"/>
            <a:ext cx="468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G-LINK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2161032"/>
            <a:ext cx="468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Hotel supply aggregator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2654808"/>
            <a:ext cx="470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hotel supply from GDS, corporate rates, third-party suppliers and Amadeus Value Hotels into one unified, reliable inventory layer.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3307080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2416" y="3307080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18688" y="3307080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Amadeus &amp; Sabre full connectivity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96112" y="3828288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3828288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RATES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18688" y="3828288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Negotiated &amp; custody rates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96112" y="4349496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42416" y="4349496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3RD-PARTY SUPPLIERS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18688" y="4349496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OTA &amp; wholesaler content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6112" y="4870704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42416" y="4870704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AVH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18688" y="4870704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Amadeus Value Hotels inventory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78728" y="1651000"/>
            <a:ext cx="5346040" cy="39674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607912" y="1850136"/>
            <a:ext cx="468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F-LINK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07912" y="2161032"/>
            <a:ext cx="468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Flight supply aggregator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6607912" y="2654808"/>
            <a:ext cx="470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Centralizes flight inventory, fares and availability across GDS, NDC and LCC — improving booking stability and commercial control.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07912" y="3307080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754216" y="3307080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930488" y="3307080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Amadeus &amp; Sabre global connectivity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607912" y="3828288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754216" y="3828288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NDC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8930488" y="3828288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Airline direct distribution standard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607912" y="4349496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754216" y="4349496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LCC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8930488" y="4349496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carrier content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607912" y="4870704"/>
            <a:ext cx="4687672" cy="448056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9525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754216" y="4870704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STABILITY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8930488" y="4870704"/>
            <a:ext cx="2511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Pre-validation reduces failures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997681B0-61EC-1778-B9D0-2A877756FB06}"/>
              </a:ext>
            </a:extLst>
          </p:cNvPr>
          <p:cNvSpPr/>
          <p:nvPr/>
        </p:nvSpPr>
        <p:spPr>
          <a:xfrm>
            <a:off x="566928" y="5799328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5CB9ACF0-4990-895E-1A6A-A791F44D075F}"/>
              </a:ext>
            </a:extLst>
          </p:cNvPr>
          <p:cNvSpPr/>
          <p:nvPr/>
        </p:nvSpPr>
        <p:spPr>
          <a:xfrm>
            <a:off x="566928" y="57993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 RATE CUSTODY</a:t>
            </a: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—   corporate hotel &amp; flight rates loaded directly into Amadeus &amp; Sabre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/   ATLAS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Atlas — TMC Operating System</a:t>
            </a:r>
            <a:endParaRPr lang="en-US" sz="33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FCG's centralized operating system for travel teams — communications, operations, finance and duty of care in one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34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2423160"/>
            <a:ext cx="468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Consolidated Inbox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3081528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Omni-channel unified inbox — Email, WhatsApp, WeChat, SMS, </a:t>
            </a:r>
            <a:r>
              <a:rPr lang="en-US" sz="1200" dirty="0" err="1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etc</a:t>
            </a: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across every traveller touchpoint.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2057400"/>
            <a:ext cx="534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07912" y="2423160"/>
            <a:ext cx="468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Operations Hub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07912" y="3081528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&amp; manage service requests per booking, with escalation workflows &amp; SLA tracking.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4096512"/>
            <a:ext cx="534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96112" y="4462272"/>
            <a:ext cx="468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Finance &amp; Reconciliation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96112" y="5120640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financial reporting and reverse-PNR look-up for fast, clean reconciliation.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096512"/>
            <a:ext cx="534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607912" y="4462272"/>
            <a:ext cx="468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Duty of Care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607912" y="5120640"/>
            <a:ext cx="470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traveller map, world-events feed, risk policy and AI next-step recommendations.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/   PROCUREMENT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Sourcing &amp; cross-border settlement</a:t>
            </a:r>
            <a:endParaRPr lang="en-US" sz="3300" spc="-9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2112264"/>
            <a:ext cx="468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AGREEEASE  ·  RFP &amp; PROCUREMENT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6112" y="2386584"/>
            <a:ext cx="468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End-to-end sourcing for modern travel teams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2880360"/>
            <a:ext cx="470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spreadsheets and email — source, negotiate, contract and enforce hotel rates globally.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216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3657600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RFP lifecycle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Sourcing, negotiation &amp; contracting in one place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5196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4187952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rate monitoring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compliance checks &amp; real-time tracking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78231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4718304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rate custody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rate access across every channel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31266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3584" y="5248656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trails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reporting on every procurement action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278728" y="1783080"/>
            <a:ext cx="53460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6607912" y="2112264"/>
            <a:ext cx="468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CROSS-BORDER PAYMENTS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607912" y="2386584"/>
            <a:ext cx="468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Compliant settlement, in and out of China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6607912" y="2880360"/>
            <a:ext cx="470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partnership with Conferma — solving the structural failure of cross-border hotel payment into China.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607912" y="3489960"/>
            <a:ext cx="4687672" cy="841248"/>
          </a:xfrm>
          <a:prstGeom prst="roundRect">
            <a:avLst>
              <a:gd name="adj" fmla="val 5435"/>
            </a:avLst>
          </a:prstGeom>
          <a:solidFill>
            <a:srgbClr val="FFF1E6"/>
          </a:solidFill>
          <a:ln w="12700">
            <a:solidFill>
              <a:srgbClr val="C85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7002552" y="3563112"/>
            <a:ext cx="1011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&gt;70%</a:t>
            </a:r>
            <a:endParaRPr lang="en-US" sz="3600" spc="-90" dirty="0"/>
          </a:p>
        </p:txBody>
      </p:sp>
      <p:sp>
        <p:nvSpPr>
          <p:cNvPr id="26" name="Text 18"/>
          <p:cNvSpPr/>
          <p:nvPr/>
        </p:nvSpPr>
        <p:spPr>
          <a:xfrm>
            <a:off x="8325968" y="3489960"/>
            <a:ext cx="2535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VCC-to-China failure rate today — the gap FCG &amp; Conferma are built to close.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32" name="Text 22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00" dirty="0"/>
          </a:p>
        </p:txBody>
      </p:sp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5A48CD37-AB01-24FF-14AA-0CC5AE632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4572000"/>
            <a:ext cx="182880" cy="182880"/>
          </a:xfrm>
          <a:prstGeom prst="rect">
            <a:avLst/>
          </a:prstGeom>
        </p:spPr>
      </p:pic>
      <p:sp>
        <p:nvSpPr>
          <p:cNvPr id="6" name="Text 19">
            <a:extLst>
              <a:ext uri="{FF2B5EF4-FFF2-40B4-BE49-F238E27FC236}">
                <a16:creationId xmlns:a16="http://schemas.microsoft.com/office/drawing/2014/main" id="{25271EB9-91AD-7447-A507-A6206F69C517}"/>
              </a:ext>
            </a:extLst>
          </p:cNvPr>
          <p:cNvSpPr/>
          <p:nvPr/>
        </p:nvSpPr>
        <p:spPr>
          <a:xfrm>
            <a:off x="6955384" y="4560000"/>
            <a:ext cx="43402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Global-to-China VCC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any China hotel by virtual card — even local &amp; regional chains that can’t accept international cards.</a:t>
            </a:r>
            <a:endParaRPr lang="en-US" sz="1100" dirty="0"/>
          </a:p>
        </p:txBody>
      </p:sp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DC87722C-E5D9-D3AD-4256-DB16C8510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5492000"/>
            <a:ext cx="182880" cy="182880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89589EC1-38E0-8AB9-AF00-9E5BBC2830F7}"/>
              </a:ext>
            </a:extLst>
          </p:cNvPr>
          <p:cNvSpPr/>
          <p:nvPr/>
        </p:nvSpPr>
        <p:spPr>
          <a:xfrm>
            <a:off x="6955384" y="5480000"/>
            <a:ext cx="43402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 billing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billing &amp; reconciliation</a:t>
            </a:r>
            <a:endParaRPr lang="en-US" sz="1100" dirty="0"/>
          </a:p>
        </p:txBody>
      </p:sp>
      <p:pic>
        <p:nvPicPr>
          <p:cNvPr id="34" name="Image 6b" descr="preencoded.png">
            <a:extLst>
              <a:ext uri="{FF2B5EF4-FFF2-40B4-BE49-F238E27FC236}">
                <a16:creationId xmlns:a16="http://schemas.microsoft.com/office/drawing/2014/main" id="{3B942040-1F01-E57A-BFE1-EEB3A3FCF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5032000"/>
            <a:ext cx="182880" cy="182880"/>
          </a:xfrm>
          <a:prstGeom prst="rect">
            <a:avLst/>
          </a:prstGeom>
        </p:spPr>
      </p:pic>
      <p:sp>
        <p:nvSpPr>
          <p:cNvPr id="35" name="Text 19b">
            <a:extLst>
              <a:ext uri="{FF2B5EF4-FFF2-40B4-BE49-F238E27FC236}">
                <a16:creationId xmlns:a16="http://schemas.microsoft.com/office/drawing/2014/main" id="{6028CCC3-8784-6DD9-C317-173F6EFD3DBF}"/>
              </a:ext>
            </a:extLst>
          </p:cNvPr>
          <p:cNvSpPr/>
          <p:nvPr/>
        </p:nvSpPr>
        <p:spPr>
          <a:xfrm>
            <a:off x="6955384" y="5020000"/>
            <a:ext cx="43402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Traveller incidentals  </a:t>
            </a:r>
            <a:r>
              <a:rPr lang="en-US" sz="1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request, FCG settles in-stay charges — Wi-Fi, F&amp;B and more — for a seamless trip.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  OF 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2148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spc="-90" dirty="0">
                <a:solidFill>
                  <a:srgbClr val="FF731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5000" spc="-90" dirty="0"/>
          </a:p>
        </p:txBody>
      </p:sp>
      <p:sp>
        <p:nvSpPr>
          <p:cNvPr id="4" name="Shape 2"/>
          <p:cNvSpPr/>
          <p:nvPr/>
        </p:nvSpPr>
        <p:spPr>
          <a:xfrm>
            <a:off x="3337560" y="2651760"/>
            <a:ext cx="0" cy="1417320"/>
          </a:xfrm>
          <a:prstGeom prst="line">
            <a:avLst/>
          </a:prstGeom>
          <a:noFill/>
          <a:ln w="190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Ultimate Goal</a:t>
            </a:r>
            <a:endParaRPr lang="en-US" sz="5000" spc="-90" dirty="0"/>
          </a:p>
        </p:txBody>
      </p:sp>
      <p:sp>
        <p:nvSpPr>
          <p:cNvPr id="6" name="Text 4"/>
          <p:cNvSpPr/>
          <p:nvPr/>
        </p:nvSpPr>
        <p:spPr>
          <a:xfrm>
            <a:off x="3685032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is going — and the network we intend to become.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9035" y="5925312"/>
            <a:ext cx="127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0617" y="5925312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</a:t>
            </a:r>
            <a:r>
              <a:rPr lang="en-US" sz="1000" kern="0" spc="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92724" y="5925312"/>
            <a:ext cx="1813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</a:t>
            </a:r>
            <a:r>
              <a:rPr lang="en-US" sz="1000" b="1" kern="0" spc="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 Goal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92724" y="6236208"/>
            <a:ext cx="1493215" cy="0"/>
          </a:xfrm>
          <a:prstGeom prst="line">
            <a:avLst/>
          </a:prstGeom>
          <a:noFill/>
          <a:ln w="25400">
            <a:solidFill>
              <a:srgbClr val="FF73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/   ULTIMATE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7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default network for global</a:t>
            </a:r>
            <a:endParaRPr lang="en-US" sz="3700" spc="-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7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travel &amp; payments</a:t>
            </a:r>
            <a:endParaRPr lang="en-US" sz="3700" spc="-90" dirty="0"/>
          </a:p>
        </p:txBody>
      </p:sp>
      <p:sp>
        <p:nvSpPr>
          <p:cNvPr id="4" name="Text 2"/>
          <p:cNvSpPr/>
          <p:nvPr/>
        </p:nvSpPr>
        <p:spPr>
          <a:xfrm>
            <a:off x="566928" y="25420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Displace the centralized GDS model — and become the network that every enterprise, TMC and traveller runs on, </a:t>
            </a:r>
            <a:r>
              <a:rPr lang="en-US" sz="1550" b="1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worldwide.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3383280"/>
            <a:ext cx="310682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3639312"/>
            <a:ext cx="2192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05074" y="35478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A2A9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405993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Live across three hubs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4590288"/>
            <a:ext cx="2603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live hubs — Hong Kong, Singapore and China (Wuhan) — running the two-way network, In &amp; Out of China.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646" y="4370832"/>
            <a:ext cx="310896" cy="3108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42434" y="3383280"/>
            <a:ext cx="310682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16754" y="3639312"/>
            <a:ext cx="2192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80581" y="35478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A2A9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816754" y="405993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multi-region network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16754" y="4590288"/>
            <a:ext cx="2603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country and regional hubs join on demand — extending coverage, capacity and data residency.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153" y="4370832"/>
            <a:ext cx="310896" cy="3108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17941" y="3383280"/>
            <a:ext cx="3106826" cy="22860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7780">
            <a:solidFill>
              <a:srgbClr val="FF7315"/>
            </a:solidFill>
            <a:prstDash val="solid"/>
          </a:ln>
          <a:effectLst>
            <a:outerShdw blurRad="101600" dist="25400" dir="5400000" algn="bl" rotWithShape="0">
              <a:srgbClr val="8A93A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792261" y="3639312"/>
            <a:ext cx="2192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756087" y="35478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853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8792261" y="405993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global default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792261" y="4590288"/>
            <a:ext cx="2603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Decentralized, AI-native and borderless — the network business travel and payments run on, everywhere.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CONNECT GROUP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24248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052748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cg/assets/fcg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77240"/>
            <a:ext cx="2286000" cy="6309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2402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network.</a:t>
            </a:r>
            <a:endParaRPr lang="en-US" sz="4600" spc="-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600" b="1" spc="-90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China and the world.</a:t>
            </a:r>
            <a:endParaRPr lang="en-US" sz="4600" spc="-90" dirty="0"/>
          </a:p>
        </p:txBody>
      </p:sp>
      <p:sp>
        <p:nvSpPr>
          <p:cNvPr id="4" name="Text 1"/>
          <p:cNvSpPr/>
          <p:nvPr/>
        </p:nvSpPr>
        <p:spPr>
          <a:xfrm>
            <a:off x="566928" y="3840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next-generation, decentralized business-travel and payment network — In China · Out China.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66928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FOOTPRINT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4864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Hong Kong</a:t>
            </a: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Global HQ      </a:t>
            </a: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Shenzhen</a:t>
            </a: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China HQ &amp; Tech      </a:t>
            </a: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Kuala Lumpur</a:t>
            </a: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Global Servicing      </a:t>
            </a:r>
            <a:r>
              <a:rPr lang="en-US" sz="1200" b="1" dirty="0">
                <a:solidFill>
                  <a:srgbClr val="1A1D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Wuhan</a:t>
            </a:r>
            <a:r>
              <a:rPr lang="en-US" sz="12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China Servicing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515721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92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commercial offices in Beijing · Shanghai · Singapore · Thailand · Vietnam · London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" y="5760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7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 err="1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hello@fusionconnectgroup.com</a:t>
            </a:r>
            <a:r>
              <a:rPr lang="en-US" sz="1100" kern="0" spc="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r>
              <a:rPr lang="en-US" sz="1100" kern="0" spc="100" dirty="0" err="1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fusionconnectgroup.com</a:t>
            </a:r>
            <a:r>
              <a:rPr lang="en-US" sz="1100" kern="0" spc="100" dirty="0">
                <a:solidFill>
                  <a:srgbClr val="54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open.fusionconnectgroup.com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Fusion Connect Group. All rights reserved.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81567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A2A9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2964</Words>
  <Application>Microsoft Macintosh PowerPoint</Application>
  <PresentationFormat>Widescreen</PresentationFormat>
  <Paragraphs>539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Inter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FCG Company Introduction</dc:title>
  <dc:subject>PptxGenJS Presentation</dc:subject>
  <dc:creator>Fusion Connect Group</dc:creator>
  <cp:lastModifiedBy>Elaine Wan</cp:lastModifiedBy>
  <cp:revision>55</cp:revision>
  <dcterms:created xsi:type="dcterms:W3CDTF">2026-06-14T09:08:30Z</dcterms:created>
  <dcterms:modified xsi:type="dcterms:W3CDTF">2026-06-17T10:06:50Z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0d3be88-a744-4ed4-9d04-e11f741aef03_Enabled">
    <vt:lpwstr>true</vt:lpwstr>
  </property>
  <property fmtid="{D5CDD505-2E9C-101B-9397-08002B2CF9AE}" pid="3" name="MSIP_Label_90d3be88-a744-4ed4-9d04-e11f741aef03_SetDate">
    <vt:lpwstr>2026-06-15T02:00:07Z</vt:lpwstr>
  </property>
  <property fmtid="{D5CDD505-2E9C-101B-9397-08002B2CF9AE}" pid="4" name="MSIP_Label_90d3be88-a744-4ed4-9d04-e11f741aef03_Method">
    <vt:lpwstr>Standard</vt:lpwstr>
  </property>
  <property fmtid="{D5CDD505-2E9C-101B-9397-08002B2CF9AE}" pid="5" name="MSIP_Label_90d3be88-a744-4ed4-9d04-e11f741aef03_Name">
    <vt:lpwstr>public</vt:lpwstr>
  </property>
  <property fmtid="{D5CDD505-2E9C-101B-9397-08002B2CF9AE}" pid="6" name="MSIP_Label_90d3be88-a744-4ed4-9d04-e11f741aef03_SiteId">
    <vt:lpwstr>124e5150-ce07-47d4-9def-2a785a1b1bd2</vt:lpwstr>
  </property>
  <property fmtid="{D5CDD505-2E9C-101B-9397-08002B2CF9AE}" pid="7" name="MSIP_Label_90d3be88-a744-4ed4-9d04-e11f741aef03_ActionId">
    <vt:lpwstr>5cb6484e-a284-48cd-be1e-ea682da4c4a1</vt:lpwstr>
  </property>
  <property fmtid="{D5CDD505-2E9C-101B-9397-08002B2CF9AE}" pid="8" name="MSIP_Label_90d3be88-a744-4ed4-9d04-e11f741aef03_ContentBits">
    <vt:lpwstr>0</vt:lpwstr>
  </property>
  <property fmtid="{D5CDD505-2E9C-101B-9397-08002B2CF9AE}" pid="9" name="MSIP_Label_90d3be88-a744-4ed4-9d04-e11f741aef03_Tag">
    <vt:lpwstr>50, 3, 0, 1</vt:lpwstr>
  </property>
</Properties>
</file>